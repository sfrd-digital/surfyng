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Usuários ativos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D3E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Mês 6</c:v>
                  </c:pt>
                  <c:pt idx="1">
                    <c:v>Mês 9</c:v>
                  </c:pt>
                  <c:pt idx="2">
                    <c:v>Mês 12</c:v>
                  </c:pt>
                  <c:pt idx="3">
                    <c:v>Mês 18</c:v>
                  </c:pt>
                  <c:pt idx="4">
                    <c:v>Mês 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</c:v>
                </c:pt>
                <c:pt idx="1">
                  <c:v>1500</c:v>
                </c:pt>
                <c:pt idx="2">
                  <c:v>3000</c:v>
                </c:pt>
                <c:pt idx="3">
                  <c:v>10000</c:v>
                </c:pt>
                <c:pt idx="4">
                  <c:v>25000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D3E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B3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4F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B3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627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4F6E"/>
          </a:solidFill>
          <a:ln w="12700">
            <a:solidFill>
              <a:srgbClr val="0A4F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62736"/>
          </a:solidFill>
          <a:ln w="12700">
            <a:solidFill>
              <a:srgbClr val="0627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0"/>
            <a:ext cx="6400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0" y="10972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600" kern="0" dirty="0">
                <a:solidFill>
                  <a:srgbClr val="F0F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SURFYNG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11480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onda. Na hora certa.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0" y="2697480"/>
            <a:ext cx="10972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para investidores ·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que indica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praia ideal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surfar agora.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3246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Vento + ondulação + GPS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praia certa em segundos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4F6E"/>
          </a:solidFill>
          <a:ln w="12700">
            <a:solidFill>
              <a:srgbClr val="0A4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48646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surfyng.com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4F6E"/>
          </a:solidFill>
          <a:ln w="12700">
            <a:solidFill>
              <a:srgbClr val="0A4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surfista enfrenta isso toda semana: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" cy="6858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804672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A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179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de previsão são complexos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7739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técnicos de vento, ondulação e período — difíceis de interpretar sem experiência.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4864" cy="6858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468880"/>
            <a:ext cx="804672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A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237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 na praia errada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7797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Surfista perde a sessão, precisa se deslocar ou desiste. Tempo e combustível jogados fora.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54864" cy="6858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474720"/>
            <a:ext cx="804672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5EA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5295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conhecer as praias locais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7856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Turistas e visitantes não sabem qual praia fica boa com qual condição do dia.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0A4F6E"/>
          </a:solidFill>
          <a:ln w="12700">
            <a:solidFill>
              <a:srgbClr val="0A4F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53542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3+ milhões de surfistas no Brasil sem uma solução simples para este problema diário.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1E2C"/>
          </a:solidFill>
          <a:ln w="12700">
            <a:solidFill>
              <a:srgbClr val="041E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4F6E"/>
          </a:solidFill>
          <a:ln w="12700">
            <a:solidFill>
              <a:srgbClr val="0A4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SOLUÇÃO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800" kern="0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SURFYNG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o app: va para a Joaquina, 8km, condicoes excelentes agora.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920240" cy="1737360"/>
          </a:xfrm>
          <a:prstGeom prst="rect">
            <a:avLst/>
          </a:prstGeom>
          <a:solidFill>
            <a:srgbClr val="0627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em tempo real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o usuário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3127248"/>
            <a:ext cx="146304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23744" y="2377440"/>
            <a:ext cx="1920240" cy="1737360"/>
          </a:xfrm>
          <a:prstGeom prst="rect">
            <a:avLst/>
          </a:prstGeom>
          <a:solidFill>
            <a:srgbClr val="0627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23744" y="2880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Windguru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23744" y="3200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Vento + ondulação atual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43984" y="3127248"/>
            <a:ext cx="146304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0288" y="2377440"/>
            <a:ext cx="1920240" cy="1737360"/>
          </a:xfrm>
          <a:prstGeom prst="rect">
            <a:avLst/>
          </a:prstGeom>
          <a:solidFill>
            <a:srgbClr val="0627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🧭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90288" y="2880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121 praias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90288" y="3200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ideais cadastradas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10528" y="3127248"/>
            <a:ext cx="146304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56832" y="2377440"/>
            <a:ext cx="1920240" cy="1737360"/>
          </a:xfrm>
          <a:prstGeom prst="rect">
            <a:avLst/>
          </a:prstGeom>
          <a:solidFill>
            <a:srgbClr val="0627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6832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56832" y="2880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0–10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56832" y="3200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Praia mais próxima + ideal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35254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entregue em &lt; 1 segundo. Sem gráficos. Sem interpretação. Só a resposta.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4F6E"/>
          </a:solidFill>
          <a:ln w="12700">
            <a:solidFill>
              <a:srgbClr val="0A4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MERCADO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2011680"/>
          </a:xfrm>
          <a:prstGeom prst="rect">
            <a:avLst/>
          </a:prstGeom>
          <a:solidFill>
            <a:srgbClr val="0A4F6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3M+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8105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surfistas no Brasil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primário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560320" cy="2011680"/>
          </a:xfrm>
          <a:prstGeom prst="rect">
            <a:avLst/>
          </a:prstGeom>
          <a:solidFill>
            <a:srgbClr val="EBF5FB"/>
          </a:solidFill>
          <a:ln w="12700">
            <a:solidFill>
              <a:srgbClr val="C5DF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05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4F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35M+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00400" y="18105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praticantes na Ámérica Latina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regional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560320" cy="2011680"/>
          </a:xfrm>
          <a:prstGeom prst="rect">
            <a:avLst/>
          </a:prstGeom>
          <a:solidFill>
            <a:srgbClr val="EBF5FB"/>
          </a:solidFill>
          <a:ln w="12700">
            <a:solidFill>
              <a:srgbClr val="C5DF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005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4F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100M+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035040" y="18105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surfistas no mundo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global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inicial: Brasil (Sudeste e Sul) — 12 estados, 121 picos mapeados no lançamento.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dos surfistas brasileiros são iniciantes — principal público do Surfyng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13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de previsão (Windguru, MSW) têm milhões de acessos mensais mas nenhum traduz os dados para o surfista comum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611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global prevista a partir do Plano Global — praias do mundo inteiro via GPS + Windguru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4F6E"/>
          </a:solidFill>
          <a:ln w="12700">
            <a:solidFill>
              <a:srgbClr val="0A4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188720"/>
          </a:xfrm>
          <a:prstGeom prst="rect">
            <a:avLst/>
          </a:prstGeom>
          <a:solidFill>
            <a:srgbClr val="0627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 em tempo real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Windguru → praia certa em &lt; 1s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1188720"/>
          </a:xfrm>
          <a:prstGeom prst="rect">
            <a:avLst/>
          </a:prstGeom>
          <a:solidFill>
            <a:srgbClr val="0627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789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da água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7556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Roupa recomendada automaticamente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51760" cy="1188720"/>
          </a:xfrm>
          <a:prstGeom prst="rect">
            <a:avLst/>
          </a:prstGeom>
          <a:solidFill>
            <a:srgbClr val="0627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0789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da comunidade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17556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e relatos em tempo real do pico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2651760" cy="1188720"/>
          </a:xfrm>
          <a:prstGeom prst="rect">
            <a:avLst/>
          </a:prstGeom>
          <a:solidFill>
            <a:srgbClr val="0627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963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2880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personalizados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1729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quando condições ideais batem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423160"/>
            <a:ext cx="2651760" cy="1188720"/>
          </a:xfrm>
          <a:prstGeom prst="rect">
            <a:avLst/>
          </a:prstGeom>
          <a:solidFill>
            <a:srgbClr val="0627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4963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0400" y="2880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condições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1729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verdes/amarelos/vermelhos por praia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423160"/>
            <a:ext cx="2651760" cy="1188720"/>
          </a:xfrm>
          <a:prstGeom prst="rect">
            <a:avLst/>
          </a:prstGeom>
          <a:solidFill>
            <a:srgbClr val="0627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4963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035040" y="2880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global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31729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em qualquer praia do mundo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iOS + Android · PT / ES / EN · Dark mode · 12 telas completas projetadas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4F6E"/>
          </a:solidFill>
          <a:ln w="12700">
            <a:solidFill>
              <a:srgbClr val="0A4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NEGÓCIO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3200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87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F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4F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0299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indicação por dia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feed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Brasil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606040" cy="3200400"/>
          </a:xfrm>
          <a:prstGeom prst="rect">
            <a:avLst/>
          </a:prstGeom>
          <a:solidFill>
            <a:srgbClr val="0A4F6E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14400"/>
            <a:ext cx="2606040" cy="34747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9144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1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popular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33502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176479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R$ 19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00400" y="23774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7249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Indicações ilimitadas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3044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push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33649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Brasil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6850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completo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914400"/>
            <a:ext cx="2606040" cy="3200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35040" y="9875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F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35040" y="14173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4F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R$ 39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035040" y="20299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2377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Pro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26974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mundial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30175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Praias internacionais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79392"/>
            <a:ext cx="822960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C5DF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88536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Stripe (internacional) · Trial: 7 dias grátis no Pro · Cancelamento a qualquer momento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4F6E"/>
          </a:solidFill>
          <a:ln w="12700">
            <a:solidFill>
              <a:srgbClr val="0A4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PROJEÇÃO FINANCEIRA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868680"/>
          <a:ext cx="3246120" cy="2743200"/>
        </p:xfrm>
        <a:graphic>
          <a:graphicData uri="http://schemas.openxmlformats.org/drawingml/2006/table">
            <a:tbl>
              <a:tblPr/>
              <a:tblGrid>
                <a:gridCol w="777240"/>
                <a:gridCol w="658368"/>
                <a:gridCol w="658368"/>
                <a:gridCol w="640080"/>
                <a:gridCol w="8046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4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4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4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4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4F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2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2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2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2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27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4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4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4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4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41E2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2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2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2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27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R$ 38.000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27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4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4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4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41E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41E2C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3749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conservador · 20% conversão free→pago no Mês 24 · Baseado em benchmarks de apps de nicho esportivo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365760" y="4160520"/>
            <a:ext cx="2560320" cy="731520"/>
          </a:xfrm>
          <a:prstGeom prst="rect">
            <a:avLst/>
          </a:prstGeom>
          <a:solidFill>
            <a:srgbClr val="06273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41788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Mês 10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365760" y="45628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even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00400" y="4160520"/>
            <a:ext cx="2560320" cy="731520"/>
          </a:xfrm>
          <a:prstGeom prst="rect">
            <a:avLst/>
          </a:prstGeom>
          <a:solidFill>
            <a:srgbClr val="06273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0" y="41788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R$ 110k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200400" y="45628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Mês 24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4160520"/>
            <a:ext cx="2560320" cy="731520"/>
          </a:xfrm>
          <a:prstGeom prst="rect">
            <a:avLst/>
          </a:prstGeom>
          <a:solidFill>
            <a:srgbClr val="06273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35040" y="41788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R$ 228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035040" y="45628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médio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4F6E"/>
          </a:solidFill>
          <a:ln w="12700">
            <a:solidFill>
              <a:srgbClr val="0A4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POSICIONAMENTO COMPETITIVO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840480"/>
        </p:xfrm>
        <a:graphic>
          <a:graphicData uri="http://schemas.openxmlformats.org/drawingml/2006/table">
            <a:tbl>
              <a:tblPr/>
              <a:tblGrid>
                <a:gridCol w="2377440"/>
                <a:gridCol w="1508760"/>
                <a:gridCol w="1508760"/>
                <a:gridCol w="1508760"/>
                <a:gridCol w="150876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Windguru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Magic Seaweed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0F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SURFYNG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4F6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4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 para iniciantes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4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4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 a praia específica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9F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4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Português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4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 da água + roupa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9F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4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da comunidade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4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4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mobile nativo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9F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4F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 no Brasil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4F6E"/>
          </a:solidFill>
          <a:ln w="12700">
            <a:solidFill>
              <a:srgbClr val="0A4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DE EXECUÇÃO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807208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91440" y="9144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1–2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-91440" y="1188720"/>
            <a:ext cx="1554480" cy="1417320"/>
          </a:xfrm>
          <a:prstGeom prst="rect">
            <a:avLst/>
          </a:prstGeom>
          <a:solidFill>
            <a:srgbClr val="0627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45720" y="12618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Banco de dados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-45720" y="175564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praias, identidade visual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-91440" y="3154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1–2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76272" y="2807208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9144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3–4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1188720"/>
            <a:ext cx="1554480" cy="1417320"/>
          </a:xfrm>
          <a:prstGeom prst="rect">
            <a:avLst/>
          </a:prstGeom>
          <a:solidFill>
            <a:srgbClr val="0627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12618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app funcionando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175564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matching, telas 1–6, login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3154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3–4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70832" y="2807208"/>
            <a:ext cx="256032" cy="25603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9144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1188720"/>
            <a:ext cx="1554480" cy="1417320"/>
          </a:xfrm>
          <a:prstGeom prst="rect">
            <a:avLst/>
          </a:prstGeom>
          <a:solidFill>
            <a:srgbClr val="06273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12618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+ pagamento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69080" y="175564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Comunidade, Stripe, alertas push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23360" y="3154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91072" y="2807208"/>
            <a:ext cx="256032" cy="256032"/>
          </a:xfrm>
          <a:prstGeom prst="ellipse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9144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1188720"/>
            <a:ext cx="1554480" cy="1417320"/>
          </a:xfrm>
          <a:prstGeom prst="rect">
            <a:avLst/>
          </a:prstGeom>
          <a:solidFill>
            <a:srgbClr val="062736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12618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&amp; ajustes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175564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i18n, testes, UX, beta fechado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0" y="3154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19872" y="2807208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9144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7–8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0" y="1188720"/>
            <a:ext cx="1554480" cy="1417320"/>
          </a:xfrm>
          <a:prstGeom prst="rect">
            <a:avLst/>
          </a:prstGeom>
          <a:solidFill>
            <a:srgbClr val="06273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18120" y="12618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18120" y="175564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Store, Google Play, marketing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3154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7+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749040"/>
            <a:ext cx="8229600" cy="1051560"/>
          </a:xfrm>
          <a:prstGeom prst="rect">
            <a:avLst/>
          </a:prstGeom>
          <a:solidFill>
            <a:srgbClr val="0627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Node.js · PostgreSQL · Redis · Windguru API · Firebase Auth + FCM · Stripe · Hostinger VPS · App Store + Google Play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4F6E"/>
          </a:solidFill>
          <a:ln w="12700">
            <a:solidFill>
              <a:srgbClr val="0A4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CAPTAÇÃO &amp; USO DO CAPITAL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4F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Buscando: R$ 300.000 (Seed)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" cy="566928"/>
          </a:xfrm>
          <a:prstGeom prst="rect">
            <a:avLst/>
          </a:prstGeom>
          <a:solidFill>
            <a:srgbClr val="0A4F6E"/>
          </a:solidFill>
          <a:ln w="12700">
            <a:solidFill>
              <a:srgbClr val="0A4F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8046720" cy="566928"/>
          </a:xfrm>
          <a:prstGeom prst="rect">
            <a:avLst/>
          </a:prstGeom>
          <a:solidFill>
            <a:srgbClr val="EBF5FB"/>
          </a:solidFill>
          <a:ln w="12700">
            <a:solidFill>
              <a:srgbClr val="D5EA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 Desenvolvimento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1600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4F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R$ 120k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8562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backend Node.js + integrações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54864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04288"/>
            <a:ext cx="8046720" cy="566928"/>
          </a:xfrm>
          <a:prstGeom prst="rect">
            <a:avLst/>
          </a:prstGeom>
          <a:solidFill>
            <a:srgbClr val="EBF5FB"/>
          </a:solidFill>
          <a:ln w="12700">
            <a:solidFill>
              <a:srgbClr val="D5E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50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 Marketing lançamento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2350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R$ 75k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606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Influenciadores surf, redes sociais, ASO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54864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054096"/>
            <a:ext cx="8046720" cy="566928"/>
          </a:xfrm>
          <a:prstGeom prst="rect">
            <a:avLst/>
          </a:prstGeom>
          <a:solidFill>
            <a:srgbClr val="EBF5FB"/>
          </a:solidFill>
          <a:ln w="12700">
            <a:solidFill>
              <a:srgbClr val="D5EA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99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 Infraestrutura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3099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R$ 45k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3558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VPS, APIs, ferramentas, contas de dev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03904"/>
            <a:ext cx="54864" cy="566928"/>
          </a:xfrm>
          <a:prstGeom prst="rect">
            <a:avLst/>
          </a:prstGeom>
          <a:solidFill>
            <a:srgbClr val="D4A96A"/>
          </a:solidFill>
          <a:ln w="12700">
            <a:solidFill>
              <a:srgbClr val="D4A9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803904"/>
            <a:ext cx="8046720" cy="566928"/>
          </a:xfrm>
          <a:prstGeom prst="rect">
            <a:avLst/>
          </a:prstGeom>
          <a:solidFill>
            <a:srgbClr val="EBF5FB"/>
          </a:solidFill>
          <a:ln w="12700">
            <a:solidFill>
              <a:srgbClr val="D5EA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849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Operacional 12 meses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8496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9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R$ 60k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1056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Equipe, suporte, jurídico, LGPD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solidFill>
            <a:srgbClr val="0A4F6E"/>
          </a:solidFill>
          <a:ln w="12700">
            <a:solidFill>
              <a:srgbClr val="0A4F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59943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break-even no Mês 10 · MRR R$ 110k no Mês 24 · ROI projetado 3x em 24 meses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4F6E"/>
          </a:solidFill>
          <a:ln w="12700">
            <a:solidFill>
              <a:srgbClr val="0A4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 &amp; DIFERENCIAIS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Surfyng vai ganhar?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90472"/>
            <a:ext cx="502920" cy="502920"/>
          </a:xfrm>
          <a:prstGeom prst="ellipse">
            <a:avLst/>
          </a:prstGeom>
          <a:solidFill>
            <a:srgbClr val="0A4F6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90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472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real e diário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282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3M+ surfistas no Brasil sem solução simples. O app resolve uma dor concreta toda semana.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502920" cy="502920"/>
          </a:xfrm>
          <a:prstGeom prst="ellipse">
            <a:avLst/>
          </a:prstGeom>
          <a:solidFill>
            <a:srgbClr val="0A4F6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13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295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exclusivo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55117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picos cadastrados com condições ideais — dado estruturado que leva tempo para replicar.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136392"/>
            <a:ext cx="502920" cy="502920"/>
          </a:xfrm>
          <a:prstGeom prst="ellipse">
            <a:avLst/>
          </a:prstGeom>
          <a:solidFill>
            <a:srgbClr val="0A4F6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36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Escalável globalmente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37413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GPS + Windguru funciona em qualquer praia do mundo sem mudanças de código.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59352"/>
            <a:ext cx="502920" cy="502920"/>
          </a:xfrm>
          <a:prstGeom prst="ellipse">
            <a:avLst/>
          </a:prstGeom>
          <a:solidFill>
            <a:srgbClr val="0A4F6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59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941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freemium validado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19709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atrai, Pro converte, Global expande — 3 planos com proposta de valor clara em cada nível.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A4F6E"/>
          </a:solidFill>
          <a:ln w="12700">
            <a:solidFill>
              <a:srgbClr val="0A4F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07992" y="0"/>
            <a:ext cx="6400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600" kern="0" dirty="0">
                <a:solidFill>
                  <a:srgbClr val="F0F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SURFYNG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onda.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hora certa.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3246120"/>
            <a:ext cx="14630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surfyng.com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conversar?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contato@surfyng.com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057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surfyng.com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5603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 Store · Google Play (em breve)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3931920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0175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Agendar reunião 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2736"/>
          </a:solidFill>
          <a:ln w="12700">
            <a:solidFill>
              <a:srgbClr val="0627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Surfyng · Pitch Deck 2026 · Confidencial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Surfyng — Pitch Deck</dc:title>
  <dc:subject>PptxGenJS Presentation</dc:subject>
  <dc:creator>Surfyng</dc:creator>
  <cp:lastModifiedBy>Surfyng</cp:lastModifiedBy>
  <cp:revision>1</cp:revision>
  <dcterms:created xsi:type="dcterms:W3CDTF">2026-03-19T02:33:56Z</dcterms:created>
  <dcterms:modified xsi:type="dcterms:W3CDTF">2026-03-19T02:33:56Z</dcterms:modified>
</cp:coreProperties>
</file>